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6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658368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 dirty="0" err="1">
                <a:solidFill>
                  <a:srgbClr val="111827"/>
                </a:solidFill>
                <a:latin typeface="Aptos Display"/>
              </a:rPr>
              <a:t>WorkProof</a:t>
            </a:r>
            <a:endParaRPr sz="4000" b="1" dirty="0">
              <a:solidFill>
                <a:srgbClr val="111827"/>
              </a:solidFill>
              <a:latin typeface="Aptos Display"/>
            </a:endParaRPr>
          </a:p>
          <a:p>
            <a:r>
              <a:rPr sz="2400" b="1" dirty="0">
                <a:solidFill>
                  <a:srgbClr val="3B82F6"/>
                </a:solidFill>
                <a:latin typeface="Aptos Display"/>
              </a:rPr>
              <a:t>Work verified before payment.</a:t>
            </a:r>
          </a:p>
          <a:p>
            <a:r>
              <a:rPr sz="1800" dirty="0">
                <a:solidFill>
                  <a:srgbClr val="64748B"/>
                </a:solidFill>
                <a:latin typeface="Aptos"/>
              </a:rPr>
              <a:t>An escrow + AI consensus protocol that pays freelancers only after deliverables are reviewed fairly and transparently.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446020"/>
            <a:ext cx="39319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244602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5831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11827"/>
                </a:solidFill>
                <a:latin typeface="Aptos Display"/>
              </a:rPr>
              <a:t>Problem</a:t>
            </a:r>
          </a:p>
          <a:p>
            <a:r>
              <a:rPr sz="1400" dirty="0">
                <a:solidFill>
                  <a:srgbClr val="64748B"/>
                </a:solidFill>
                <a:latin typeface="Aptos"/>
              </a:rPr>
              <a:t>Bounties and freelance jobs can sit unpaid for weeks while reviews stay subjective.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3309" y="3698748"/>
            <a:ext cx="39319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23309" y="3698748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51909" y="3835908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11827"/>
                </a:solidFill>
                <a:latin typeface="Aptos Display"/>
              </a:rPr>
              <a:t>Solution</a:t>
            </a:r>
          </a:p>
          <a:p>
            <a:r>
              <a:rPr sz="1400" dirty="0">
                <a:solidFill>
                  <a:srgbClr val="64748B"/>
                </a:solidFill>
                <a:latin typeface="Aptos"/>
              </a:rPr>
              <a:t>On-chain escrow + </a:t>
            </a:r>
            <a:r>
              <a:rPr sz="1400" dirty="0" err="1">
                <a:solidFill>
                  <a:srgbClr val="64748B"/>
                </a:solidFill>
                <a:latin typeface="Aptos"/>
              </a:rPr>
              <a:t>GenLayer</a:t>
            </a:r>
            <a:r>
              <a:rPr sz="1400" dirty="0">
                <a:solidFill>
                  <a:srgbClr val="64748B"/>
                </a:solidFill>
                <a:latin typeface="Aptos"/>
              </a:rPr>
              <a:t> consensus review + oracle settlement.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86699" y="3991356"/>
            <a:ext cx="39319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86699" y="3991356"/>
            <a:ext cx="109728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15299" y="4128516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Promise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If the work passes, the payment releases. If it fails or times out, the system can refund.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82946"/>
            <a:ext cx="10789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484114"/>
            <a:ext cx="101906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dirty="0" err="1">
                <a:solidFill>
                  <a:srgbClr val="111827"/>
                </a:solidFill>
                <a:latin typeface="Aptos"/>
              </a:rPr>
              <a:t>GenLayer</a:t>
            </a:r>
            <a:r>
              <a:rPr sz="1800" dirty="0">
                <a:solidFill>
                  <a:srgbClr val="111827"/>
                </a:solidFill>
                <a:latin typeface="Aptos"/>
              </a:rPr>
              <a:t> uses multiple independent L</a:t>
            </a:r>
            <a:r>
              <a:rPr lang="en-US" sz="1800" dirty="0">
                <a:solidFill>
                  <a:srgbClr val="111827"/>
                </a:solidFill>
                <a:latin typeface="Aptos"/>
              </a:rPr>
              <a:t>L</a:t>
            </a:r>
            <a:r>
              <a:rPr sz="1800" dirty="0">
                <a:solidFill>
                  <a:srgbClr val="111827"/>
                </a:solidFill>
                <a:latin typeface="Aptos"/>
              </a:rPr>
              <a:t>Ms to review work </a:t>
            </a:r>
            <a:r>
              <a:rPr lang="en-US" sz="1800" dirty="0">
                <a:solidFill>
                  <a:srgbClr val="111827"/>
                </a:solidFill>
                <a:latin typeface="Aptos"/>
              </a:rPr>
              <a:t>A</a:t>
            </a:r>
            <a:r>
              <a:rPr sz="1800" dirty="0">
                <a:solidFill>
                  <a:srgbClr val="111827"/>
                </a:solidFill>
                <a:latin typeface="Aptos"/>
              </a:rPr>
              <a:t> consensus layer designed </a:t>
            </a:r>
            <a:endParaRPr lang="en-US" sz="1800" dirty="0">
              <a:solidFill>
                <a:srgbClr val="111827"/>
              </a:solidFill>
              <a:latin typeface="Aptos"/>
            </a:endParaRPr>
          </a:p>
          <a:p>
            <a:pPr algn="ctr"/>
            <a:r>
              <a:rPr sz="1800" dirty="0">
                <a:solidFill>
                  <a:srgbClr val="111827"/>
                </a:solidFill>
                <a:latin typeface="Aptos"/>
              </a:rPr>
              <a:t>to reduce bias, single</a:t>
            </a:r>
            <a:r>
              <a:rPr lang="en-US" sz="1800" dirty="0">
                <a:solidFill>
                  <a:srgbClr val="111827"/>
                </a:solidFill>
                <a:latin typeface="Aptos"/>
              </a:rPr>
              <a:t> </a:t>
            </a:r>
            <a:r>
              <a:rPr sz="1800" dirty="0">
                <a:solidFill>
                  <a:srgbClr val="111827"/>
                </a:solidFill>
                <a:latin typeface="Aptos"/>
              </a:rPr>
              <a:t>model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608826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The problem</a:t>
            </a:r>
          </a:p>
          <a:p>
            <a:r>
              <a:rPr sz="1200">
                <a:solidFill>
                  <a:srgbClr val="64748B"/>
                </a:solidFill>
                <a:latin typeface="Aptos"/>
              </a:rPr>
              <a:t>Why freelance and bounty payments break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658368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Freelancers finish the work but still wait days or weeks to get paid.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Clients want proof before payment, but review is often slow or subjective.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Platforms become the middleman: they decide, delay, and sometimes block payouts.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Disputes turn into who do you trust? </a:t>
            </a:r>
            <a:endParaRPr lang="en-US" sz="2000" dirty="0">
              <a:solidFill>
                <a:srgbClr val="111827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instead of did the work pass?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508760"/>
            <a:ext cx="374903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80960" y="1508760"/>
            <a:ext cx="109728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4592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Real pain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“Bounty winners from 23 days ago are yet to be paid.”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743200"/>
            <a:ext cx="374903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0" y="2743200"/>
            <a:ext cx="109728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288036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What that means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Good work gets trapped in a payment queue, and trust gets destroyed.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977639"/>
            <a:ext cx="374903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680960" y="3977639"/>
            <a:ext cx="109728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60" y="4114799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Bottom line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The current process rewards delay, not delivery.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The solution</a:t>
            </a:r>
          </a:p>
          <a:p>
            <a:r>
              <a:rPr sz="1200">
                <a:solidFill>
                  <a:srgbClr val="64748B"/>
                </a:solidFill>
                <a:latin typeface="Aptos"/>
              </a:rPr>
              <a:t>A trust layer for work settlement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9728" cy="1828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5087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1. Escrow upfront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Clients lock ETH in the WorkProof contract before the job starts.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43400" y="13716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2. Submit proof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Freelancers attach a public deliverable URL when the work is done.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3716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371600"/>
            <a:ext cx="109728" cy="1828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087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3. Verify fairly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GenLayer reviews the submission using multiple LMs and consensus.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703320"/>
            <a:ext cx="38404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920240" y="3703320"/>
            <a:ext cx="109728" cy="1737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48840" y="384048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4. Relay verdict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The oracle writes the verdict back on-chain.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703320"/>
            <a:ext cx="38404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3703320"/>
            <a:ext cx="109728" cy="1737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84048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5. Settle automatically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Approved work pays out; failed or expired jobs refund by contract rules.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How WorkProof works</a:t>
            </a:r>
          </a:p>
          <a:p>
            <a:r>
              <a:rPr sz="1200">
                <a:solidFill>
                  <a:srgbClr val="64748B"/>
                </a:solidFill>
                <a:latin typeface="Aptos"/>
              </a:rPr>
              <a:t>Simple user flow, automated settlement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64592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402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743200"/>
            <a:ext cx="199713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2743200"/>
            <a:ext cx="109728" cy="1508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880360"/>
            <a:ext cx="1463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Post job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Client defines the work, deadline, reward, and acceptance criteria.</a:t>
            </a:r>
          </a:p>
        </p:txBody>
      </p:sp>
      <p:sp>
        <p:nvSpPr>
          <p:cNvPr id="8" name="Oval 7"/>
          <p:cNvSpPr/>
          <p:nvPr/>
        </p:nvSpPr>
        <p:spPr>
          <a:xfrm>
            <a:off x="2953512" y="164592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70632" y="22402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2743200"/>
            <a:ext cx="1962214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33472" y="2743200"/>
            <a:ext cx="109728" cy="1508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62072" y="2880360"/>
            <a:ext cx="16002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11827"/>
                </a:solidFill>
                <a:latin typeface="Aptos Display"/>
              </a:rPr>
              <a:t>Fund escrow</a:t>
            </a:r>
          </a:p>
          <a:p>
            <a:r>
              <a:rPr sz="1400" dirty="0">
                <a:solidFill>
                  <a:srgbClr val="64748B"/>
                </a:solidFill>
                <a:latin typeface="Aptos"/>
              </a:rPr>
              <a:t>ETH is locked on </a:t>
            </a:r>
            <a:r>
              <a:rPr sz="1400" dirty="0" err="1">
                <a:solidFill>
                  <a:srgbClr val="64748B"/>
                </a:solidFill>
                <a:latin typeface="Aptos"/>
              </a:rPr>
              <a:t>Arbitrum</a:t>
            </a:r>
            <a:r>
              <a:rPr sz="1400" dirty="0">
                <a:solidFill>
                  <a:srgbClr val="64748B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64748B"/>
                </a:solidFill>
                <a:latin typeface="Aptos"/>
              </a:rPr>
              <a:t>Sepolia</a:t>
            </a:r>
            <a:r>
              <a:rPr sz="1400" dirty="0">
                <a:solidFill>
                  <a:srgbClr val="64748B"/>
                </a:solidFill>
                <a:latin typeface="Aptos"/>
              </a:rPr>
              <a:t> inside the </a:t>
            </a:r>
            <a:r>
              <a:rPr sz="1400" dirty="0" err="1">
                <a:solidFill>
                  <a:srgbClr val="64748B"/>
                </a:solidFill>
                <a:latin typeface="Aptos"/>
              </a:rPr>
              <a:t>WorkProof</a:t>
            </a:r>
            <a:r>
              <a:rPr sz="1400" dirty="0">
                <a:solidFill>
                  <a:srgbClr val="64748B"/>
                </a:solidFill>
                <a:latin typeface="Aptos"/>
              </a:rPr>
              <a:t> contract.</a:t>
            </a:r>
          </a:p>
        </p:txBody>
      </p:sp>
      <p:sp>
        <p:nvSpPr>
          <p:cNvPr id="13" name="Oval 12"/>
          <p:cNvSpPr/>
          <p:nvPr/>
        </p:nvSpPr>
        <p:spPr>
          <a:xfrm>
            <a:off x="5221224" y="164592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38344" y="22402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1184" y="2743200"/>
            <a:ext cx="18745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01184" y="2743200"/>
            <a:ext cx="109728" cy="1508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9784" y="2880360"/>
            <a:ext cx="1463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11827"/>
                </a:solidFill>
                <a:latin typeface="Aptos Display"/>
              </a:rPr>
              <a:t>Submit deliverable</a:t>
            </a:r>
          </a:p>
          <a:p>
            <a:r>
              <a:rPr sz="1400" dirty="0">
                <a:solidFill>
                  <a:srgbClr val="64748B"/>
                </a:solidFill>
                <a:latin typeface="Aptos"/>
              </a:rPr>
              <a:t>Freelancer provides a public URL to the completed work.</a:t>
            </a:r>
          </a:p>
        </p:txBody>
      </p:sp>
      <p:sp>
        <p:nvSpPr>
          <p:cNvPr id="18" name="Oval 17"/>
          <p:cNvSpPr/>
          <p:nvPr/>
        </p:nvSpPr>
        <p:spPr>
          <a:xfrm>
            <a:off x="7488936" y="164592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06056" y="22402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68896" y="2743200"/>
            <a:ext cx="199713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68896" y="2743200"/>
            <a:ext cx="109728" cy="1508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97496" y="2880360"/>
            <a:ext cx="1463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AI review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GenLayer independently checks the submission against the criteria.</a:t>
            </a:r>
          </a:p>
        </p:txBody>
      </p:sp>
      <p:sp>
        <p:nvSpPr>
          <p:cNvPr id="23" name="Oval 22"/>
          <p:cNvSpPr/>
          <p:nvPr/>
        </p:nvSpPr>
        <p:spPr>
          <a:xfrm>
            <a:off x="9756648" y="164592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73768" y="22402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6608" y="2743199"/>
            <a:ext cx="2084832" cy="192024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436608" y="2743200"/>
            <a:ext cx="109728" cy="1508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65208" y="2880360"/>
            <a:ext cx="1463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Claim or refund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If approved, the freelancer claims; otherwise the flow refunds or escalates.</a:t>
            </a:r>
          </a:p>
        </p:txBody>
      </p:sp>
      <p:sp>
        <p:nvSpPr>
          <p:cNvPr id="28" name="Chevron 27"/>
          <p:cNvSpPr/>
          <p:nvPr/>
        </p:nvSpPr>
        <p:spPr>
          <a:xfrm>
            <a:off x="1737360" y="1847088"/>
            <a:ext cx="320040" cy="228600"/>
          </a:xfrm>
          <a:prstGeom prst="chevron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hevron 28"/>
          <p:cNvSpPr/>
          <p:nvPr/>
        </p:nvSpPr>
        <p:spPr>
          <a:xfrm>
            <a:off x="4005072" y="1847088"/>
            <a:ext cx="320040" cy="228600"/>
          </a:xfrm>
          <a:prstGeom prst="chevron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hevron 29"/>
          <p:cNvSpPr/>
          <p:nvPr/>
        </p:nvSpPr>
        <p:spPr>
          <a:xfrm>
            <a:off x="6272783" y="1847088"/>
            <a:ext cx="320040" cy="228600"/>
          </a:xfrm>
          <a:prstGeom prst="chevron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hevron 30"/>
          <p:cNvSpPr/>
          <p:nvPr/>
        </p:nvSpPr>
        <p:spPr>
          <a:xfrm>
            <a:off x="8540496" y="1847088"/>
            <a:ext cx="320040" cy="228600"/>
          </a:xfrm>
          <a:prstGeom prst="chevron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Why GenLayer consensus is unbiased</a:t>
            </a:r>
          </a:p>
          <a:p>
            <a:r>
              <a:rPr sz="1200">
                <a:solidFill>
                  <a:srgbClr val="64748B"/>
                </a:solidFill>
                <a:latin typeface="Aptos"/>
              </a:rPr>
              <a:t>Multiple models, independent judgment, consensus outcome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6118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9728" cy="1828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No single judge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One reviewer can be wrong, biased, or inconsistent. Multiple LMs reduce that risk.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6118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43400" y="1463040"/>
            <a:ext cx="109728" cy="1828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Independent opinions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Each LM evaluates the same submission separately before consensus is formed.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520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46304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600200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Consensus over authority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The verdict comes from agreement, not from one opaque model or one human moderator.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3794760"/>
            <a:ext cx="38404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554480" y="3794760"/>
            <a:ext cx="109728" cy="1783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931920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Optimistic democracy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Fast when the answer is obvious; escalates when the models disagree.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3794760"/>
            <a:ext cx="38404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720840" y="3794760"/>
            <a:ext cx="109728" cy="1783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3931920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Why it matters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This makes reviews harder to game, easier to audit, and fairer for both sides.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Who benefits</a:t>
            </a:r>
          </a:p>
          <a:p>
            <a:r>
              <a:rPr sz="1200">
                <a:solidFill>
                  <a:srgbClr val="64748B"/>
                </a:solidFill>
                <a:latin typeface="Aptos"/>
              </a:rPr>
              <a:t>The same system protects both sides of the market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35204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109728" cy="20116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Clients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Pay only when work passes review. Reduce disputes and avoid manual screening overhead.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508760"/>
            <a:ext cx="35204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34256" y="150876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62856" y="16459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Freelancers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Get a transparent review path and a credible promise that approved work is paid.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36992" y="1508760"/>
            <a:ext cx="35204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36992" y="1508760"/>
            <a:ext cx="109728" cy="2011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65592" y="16459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Platforms / DAOs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Automate settlement, preserve audit trails, and scale without adding human reviewers.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3977639"/>
            <a:ext cx="46634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417320" y="3977639"/>
            <a:ext cx="109728" cy="1737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4114799"/>
            <a:ext cx="4297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Trust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Rules are visible, payouts are programmatic, and outcomes are traceable.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977639"/>
            <a:ext cx="4389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3977639"/>
            <a:ext cx="109728" cy="1737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4114799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Speed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Consensus automates decisions instead of dragging work through a queue.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Why this wins</a:t>
            </a:r>
          </a:p>
          <a:p>
            <a:r>
              <a:rPr sz="1200">
                <a:solidFill>
                  <a:srgbClr val="64748B"/>
                </a:solidFill>
                <a:latin typeface="Aptos"/>
              </a:rPr>
              <a:t>It turns a social problem into a protocol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9224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Delays disappear because escrow is already on-chain before work begins.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Bias drops because no single reviewer or model has final authority.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Disputes shrink because the review process is auditable.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Operations scale because </a:t>
            </a:r>
            <a:r>
              <a:rPr sz="2000" dirty="0" err="1">
                <a:solidFill>
                  <a:srgbClr val="111827"/>
                </a:solidFill>
                <a:latin typeface="Aptos"/>
              </a:rPr>
              <a:t>cron</a:t>
            </a:r>
            <a:r>
              <a:rPr sz="2000" dirty="0">
                <a:solidFill>
                  <a:srgbClr val="111827"/>
                </a:solidFill>
                <a:latin typeface="Aptos"/>
              </a:rPr>
              <a:t> + oracle automation replaces manual chasing.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111827"/>
                </a:solidFill>
                <a:latin typeface="Aptos"/>
              </a:rPr>
              <a:t>The market gains a clear promise: pay for proof, not promises.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35240" y="1554480"/>
            <a:ext cx="374903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35240" y="1554480"/>
            <a:ext cx="109728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0" y="1691640"/>
            <a:ext cx="3383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Outcome 1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Faster payouts for approved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788920"/>
            <a:ext cx="374903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35240" y="2788920"/>
            <a:ext cx="109728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0" y="2926080"/>
            <a:ext cx="3383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Outcome 2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Fairer reviews with consensus-based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4023360"/>
            <a:ext cx="374903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635240" y="4023360"/>
            <a:ext cx="109728" cy="1143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4160520"/>
            <a:ext cx="338327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11827"/>
                </a:solidFill>
                <a:latin typeface="Aptos Display"/>
              </a:rPr>
              <a:t>Outcome 3</a:t>
            </a:r>
          </a:p>
          <a:p>
            <a:r>
              <a:rPr sz="1400" dirty="0">
                <a:solidFill>
                  <a:srgbClr val="64748B"/>
                </a:solidFill>
                <a:latin typeface="Aptos"/>
              </a:rPr>
              <a:t>Transparent settlement and clean </a:t>
            </a:r>
            <a:r>
              <a:rPr lang="en-US" sz="1400" dirty="0" err="1">
                <a:solidFill>
                  <a:srgbClr val="64748B"/>
                </a:solidFill>
                <a:latin typeface="Aptos"/>
              </a:rPr>
              <a:t>onchain</a:t>
            </a:r>
            <a:r>
              <a:rPr lang="en-US" sz="1400" dirty="0">
                <a:solidFill>
                  <a:srgbClr val="64748B"/>
                </a:solidFill>
                <a:latin typeface="Aptos"/>
              </a:rPr>
              <a:t> proofs</a:t>
            </a:r>
            <a:r>
              <a:rPr sz="1400" dirty="0">
                <a:solidFill>
                  <a:srgbClr val="64748B"/>
                </a:solidFill>
                <a:latin typeface="Apto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051560"/>
            <a:ext cx="101498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11827"/>
                </a:solidFill>
                <a:latin typeface="Aptos Display"/>
              </a:rPr>
              <a:t>WorkProof builds the trust layer for freelance work.</a:t>
            </a:r>
          </a:p>
          <a:p>
            <a:pPr algn="ctr"/>
            <a:r>
              <a:rPr sz="2000">
                <a:solidFill>
                  <a:srgbClr val="64748B"/>
                </a:solidFill>
                <a:latin typeface="Aptos"/>
              </a:rPr>
              <a:t>Escrow the money. Verify the work. Let consensus settle the result.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3611880"/>
            <a:ext cx="3154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3611880"/>
            <a:ext cx="109728" cy="1417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749040"/>
            <a:ext cx="2788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Pitch line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Pay for proof, not promises.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611880"/>
            <a:ext cx="3154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26280" y="3611880"/>
            <a:ext cx="109728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0" y="3749040"/>
            <a:ext cx="2788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Differentiator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Multiple LMs. Consensus verdict. Optimistic democracy.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611880"/>
            <a:ext cx="3154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361188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3749040"/>
            <a:ext cx="2788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1827"/>
                </a:solidFill>
                <a:latin typeface="Aptos Display"/>
              </a:rPr>
              <a:t>Call to action</a:t>
            </a:r>
          </a:p>
          <a:p>
            <a:r>
              <a:rPr sz="1400">
                <a:solidFill>
                  <a:srgbClr val="64748B"/>
                </a:solidFill>
                <a:latin typeface="Aptos"/>
              </a:rPr>
              <a:t>Use WorkProof to make work settlement transparent and fair.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6928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Aptos"/>
              </a:rPr>
              <a:t>Download-ready pitch deck generated from the WorkProof repository.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Aptos"/>
              </a:rPr>
              <a:t>WorkProof Pitch Deck  •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754</Words>
  <Application>Microsoft Office PowerPoint</Application>
  <PresentationFormat>Widescreen</PresentationFormat>
  <Paragraphs>107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Tech Shine</cp:lastModifiedBy>
  <cp:revision>3</cp:revision>
  <dcterms:created xsi:type="dcterms:W3CDTF">2013-01-27T09:14:16Z</dcterms:created>
  <dcterms:modified xsi:type="dcterms:W3CDTF">2026-06-12T07:10:26Z</dcterms:modified>
  <cp:category/>
</cp:coreProperties>
</file>