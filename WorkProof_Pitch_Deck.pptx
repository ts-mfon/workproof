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65836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11827"/>
                </a:solidFill>
                <a:latin typeface="Aptos Display"/>
              </a:rPr>
              <a:t>WorkProof</a:t>
            </a:r>
          </a:p>
          <a:p>
            <a:r>
              <a:rPr sz="2400" b="1">
                <a:solidFill>
                  <a:srgbClr val="3B82F6"/>
                </a:solidFill>
                <a:latin typeface="Aptos Display"/>
              </a:rPr>
              <a:t>Work verified before payment.</a:t>
            </a:r>
          </a:p>
          <a:p>
            <a:r>
              <a:rPr sz="1800">
                <a:solidFill>
                  <a:srgbClr val="64748B"/>
                </a:solidFill>
                <a:latin typeface="Aptos"/>
              </a:rPr>
              <a:t>An escrow + AI consensus protocol that pays freelancers only after deliverables are reviewed fairly and transparently.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822960"/>
            <a:ext cx="3931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822960"/>
            <a:ext cx="109728" cy="1051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79" y="96012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Problem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Bounties and freelance jobs can sit unpaid for weeks while reviews stay subjective.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011680"/>
            <a:ext cx="3931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79" y="201168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214884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Solution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On-chain escrow + GenLayer consensus review + oracle settlement.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200400"/>
            <a:ext cx="3931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3200400"/>
            <a:ext cx="109728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333756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Promise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If the work passes, the payment releases. If it fails or times out, the system can refund.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12064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2180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11827"/>
                </a:solidFill>
                <a:latin typeface="Aptos"/>
              </a:rPr>
              <a:t>GenLayer uses multiple independent LMs to review work — a consensus layer designed to reduce bias, single-model error, and opaque human gatekeeping.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WorkProof Pitch Deck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Aptos Display"/>
              </a:rPr>
              <a:t>The problem</a:t>
            </a:r>
          </a:p>
          <a:p>
            <a:r>
              <a:rPr sz="1200">
                <a:solidFill>
                  <a:srgbClr val="64748B"/>
                </a:solidFill>
                <a:latin typeface="Aptos"/>
              </a:rPr>
              <a:t>Why freelance and bounty payments break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58368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11827"/>
                </a:solidFill>
                <a:latin typeface="Aptos"/>
              </a:rPr>
              <a:t>Freelancers finish the work but still wait days or weeks to get paid.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11827"/>
                </a:solidFill>
                <a:latin typeface="Aptos"/>
              </a:rPr>
              <a:t>Clients want proof before payment, but review is often slow or subjective.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11827"/>
                </a:solidFill>
                <a:latin typeface="Aptos"/>
              </a:rPr>
              <a:t>Platforms become the middleman: they decide, delay, and sometimes block payouts.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11827"/>
                </a:solidFill>
                <a:latin typeface="Aptos"/>
              </a:rPr>
              <a:t>Disputes turn into “who do you trust?” instead of “did the work pass?”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0" y="1508760"/>
            <a:ext cx="374903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960" y="1508760"/>
            <a:ext cx="109728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1645920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Real pain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“Bounty winners from 23 days ago are yet to be paid.”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743200"/>
            <a:ext cx="374903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2743200"/>
            <a:ext cx="109728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880360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What that means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Good work gets trapped in a payment queue, and trust gets destroyed.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977639"/>
            <a:ext cx="374903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0" y="3977639"/>
            <a:ext cx="109728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4114799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Bottom line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The current process rewards delay, not delivery.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WorkProof Pitch Deck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Aptos Display"/>
              </a:rPr>
              <a:t>The solution</a:t>
            </a:r>
          </a:p>
          <a:p>
            <a:r>
              <a:rPr sz="1200">
                <a:solidFill>
                  <a:srgbClr val="64748B"/>
                </a:solidFill>
                <a:latin typeface="Aptos"/>
              </a:rPr>
              <a:t>A trust layer for work settlement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9728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1. Escrow upfront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Clients lock ETH in the WorkProof contract before the job starts.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1371600"/>
            <a:ext cx="109728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087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2. Submit proof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Freelancers attach a public deliverable URL when the work is done.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3716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79" y="1371600"/>
            <a:ext cx="109728" cy="1828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5087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3. Verify fairly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GenLayer reviews the submission using multiple LMs and consensus.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3703320"/>
            <a:ext cx="38404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20240" y="3703320"/>
            <a:ext cx="109728" cy="1737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384048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4. Relay verdict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The oracle writes the verdict back on-chain.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03320"/>
            <a:ext cx="38404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703320"/>
            <a:ext cx="109728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84048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5. Settle automatically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Approved work pays out; failed or expired jobs refund by contract rules.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WorkProof Pitch Deck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Aptos Display"/>
              </a:rPr>
              <a:t>How WorkProof works</a:t>
            </a:r>
          </a:p>
          <a:p>
            <a:r>
              <a:rPr sz="1200">
                <a:solidFill>
                  <a:srgbClr val="64748B"/>
                </a:solidFill>
                <a:latin typeface="Aptos"/>
              </a:rPr>
              <a:t>Simple user flow, automated settlement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64592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40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743200"/>
            <a:ext cx="1828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743200"/>
            <a:ext cx="109728" cy="1508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880360"/>
            <a:ext cx="1463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Post job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Client defines the work, deadline, reward, and acceptance criteria.</a:t>
            </a:r>
          </a:p>
        </p:txBody>
      </p:sp>
      <p:sp>
        <p:nvSpPr>
          <p:cNvPr id="8" name="Oval 7"/>
          <p:cNvSpPr/>
          <p:nvPr/>
        </p:nvSpPr>
        <p:spPr>
          <a:xfrm>
            <a:off x="2953512" y="16459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2240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33472" y="2743200"/>
            <a:ext cx="1828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3472" y="2743200"/>
            <a:ext cx="109728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2880360"/>
            <a:ext cx="1463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Fund escrow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ETH is locked on Arbitrum Sepolia inside the WorkProof contract.</a:t>
            </a:r>
          </a:p>
        </p:txBody>
      </p:sp>
      <p:sp>
        <p:nvSpPr>
          <p:cNvPr id="13" name="Oval 12"/>
          <p:cNvSpPr/>
          <p:nvPr/>
        </p:nvSpPr>
        <p:spPr>
          <a:xfrm>
            <a:off x="5221224" y="164592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8344" y="2240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01184" y="2743200"/>
            <a:ext cx="1828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01184" y="2743200"/>
            <a:ext cx="109728" cy="1508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9784" y="2880360"/>
            <a:ext cx="1463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Submit deliverable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Freelancer provides a public URL to the completed work.</a:t>
            </a:r>
          </a:p>
        </p:txBody>
      </p:sp>
      <p:sp>
        <p:nvSpPr>
          <p:cNvPr id="18" name="Oval 17"/>
          <p:cNvSpPr/>
          <p:nvPr/>
        </p:nvSpPr>
        <p:spPr>
          <a:xfrm>
            <a:off x="7488936" y="16459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06056" y="2240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68896" y="2743200"/>
            <a:ext cx="1828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68896" y="2743200"/>
            <a:ext cx="109728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97496" y="2880360"/>
            <a:ext cx="1463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AI review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GenLayer independently checks the submission against the criteria.</a:t>
            </a:r>
          </a:p>
        </p:txBody>
      </p:sp>
      <p:sp>
        <p:nvSpPr>
          <p:cNvPr id="23" name="Oval 22"/>
          <p:cNvSpPr/>
          <p:nvPr/>
        </p:nvSpPr>
        <p:spPr>
          <a:xfrm>
            <a:off x="9756648" y="164592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73768" y="2240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36608" y="2743200"/>
            <a:ext cx="1828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36608" y="2743200"/>
            <a:ext cx="109728" cy="1508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65208" y="2880360"/>
            <a:ext cx="1463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Claim or refund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If approved, the freelancer claims; otherwise the flow refunds or escalates.</a:t>
            </a:r>
          </a:p>
        </p:txBody>
      </p:sp>
      <p:sp>
        <p:nvSpPr>
          <p:cNvPr id="28" name="Chevron 27"/>
          <p:cNvSpPr/>
          <p:nvPr/>
        </p:nvSpPr>
        <p:spPr>
          <a:xfrm>
            <a:off x="1737360" y="1847088"/>
            <a:ext cx="320040" cy="228600"/>
          </a:xfrm>
          <a:prstGeom prst="chevron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evron 28"/>
          <p:cNvSpPr/>
          <p:nvPr/>
        </p:nvSpPr>
        <p:spPr>
          <a:xfrm>
            <a:off x="4005072" y="1847088"/>
            <a:ext cx="320040" cy="228600"/>
          </a:xfrm>
          <a:prstGeom prst="chevron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evron 29"/>
          <p:cNvSpPr/>
          <p:nvPr/>
        </p:nvSpPr>
        <p:spPr>
          <a:xfrm>
            <a:off x="6272783" y="1847088"/>
            <a:ext cx="320040" cy="228600"/>
          </a:xfrm>
          <a:prstGeom prst="chevron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evron 30"/>
          <p:cNvSpPr/>
          <p:nvPr/>
        </p:nvSpPr>
        <p:spPr>
          <a:xfrm>
            <a:off x="8540496" y="1847088"/>
            <a:ext cx="320040" cy="228600"/>
          </a:xfrm>
          <a:prstGeom prst="chevron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WorkProof Pitch Deck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Aptos Display"/>
              </a:rPr>
              <a:t>Why GenLayer consensus is unbiased</a:t>
            </a:r>
          </a:p>
          <a:p>
            <a:r>
              <a:rPr sz="1200">
                <a:solidFill>
                  <a:srgbClr val="64748B"/>
                </a:solidFill>
                <a:latin typeface="Aptos"/>
              </a:rPr>
              <a:t>Multiple models, independent judgment, consensus outcome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611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9728" cy="1828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No single judge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One reviewer can be wrong, biased, or inconsistent. Multiple LMs reduce that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611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1463040"/>
            <a:ext cx="109728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Independent opinions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Each LM evaluates the same submission separately before consensus is formed.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6304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79" y="1463040"/>
            <a:ext cx="109728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60020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Consensus over authority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The verdict comes from agreement, not from one opaque model or one human moderator.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3794760"/>
            <a:ext cx="38404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80" y="3794760"/>
            <a:ext cx="109728" cy="1783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93192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Optimistic democracy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Fast when the answer is obvious; escalates when the models disagree.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3794760"/>
            <a:ext cx="38404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20840" y="3794760"/>
            <a:ext cx="109728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393192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Why it matters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This makes reviews harder to game, easier to audit, and fairer for both sides.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WorkProof Pitch Deck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Aptos Display"/>
              </a:rPr>
              <a:t>Product architecture</a:t>
            </a:r>
          </a:p>
          <a:p>
            <a:r>
              <a:rPr sz="1200">
                <a:solidFill>
                  <a:srgbClr val="64748B"/>
                </a:solidFill>
                <a:latin typeface="Aptos"/>
              </a:rPr>
              <a:t>Built for trust, automation, and auditability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1691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9728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Browser / wallet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User signs only the on-chain action they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828800"/>
            <a:ext cx="1691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1828800"/>
            <a:ext cx="109728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96596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Vercel Next.js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Frontend and cron endpoints orchestrate the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1691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828800"/>
            <a:ext cx="109728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96596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Supabase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Stores users, jobs, activity, and GenLayer audit rows.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1691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109728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96596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GenLayer consensus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Multiple LMs review deliverables and produce a verdict.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1691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828800"/>
            <a:ext cx="109728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96596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Arbitrum Sepolia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The WorkProof contract holds escrow and settles payment.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331720" y="2514600"/>
            <a:ext cx="182880" cy="32004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4251960" y="2514600"/>
            <a:ext cx="182880" cy="32004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6172200" y="2514600"/>
            <a:ext cx="182880" cy="32004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8092440" y="2514600"/>
            <a:ext cx="182880" cy="32004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4251960"/>
            <a:ext cx="10241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4251960"/>
            <a:ext cx="109728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38912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Key design choice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The oracle is the bridge: it signs the GenLayer review and relays the result on-chain, while the contract remains the final source of truth for payment.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WorkProof Pitch Deck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Aptos Display"/>
              </a:rPr>
              <a:t>Who benefits</a:t>
            </a:r>
          </a:p>
          <a:p>
            <a:r>
              <a:rPr sz="1200">
                <a:solidFill>
                  <a:srgbClr val="64748B"/>
                </a:solidFill>
                <a:latin typeface="Aptos"/>
              </a:rPr>
              <a:t>The same system protects both sides of the market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3520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9728" cy="2011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Clients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Pay only when work passes review. Reduce disputes and avoid manual screening overhead.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4256" y="1508760"/>
            <a:ext cx="3520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4256" y="1508760"/>
            <a:ext cx="109728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64592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Freelancers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Get a transparent review path and a credible promise that approved work is paid.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36992" y="1508760"/>
            <a:ext cx="3520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36992" y="1508760"/>
            <a:ext cx="109728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64592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Platforms / DAOs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Automate settlement, preserve audit trails, and scale without adding human reviewers.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3977639"/>
            <a:ext cx="46634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3977639"/>
            <a:ext cx="109728" cy="1737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4114799"/>
            <a:ext cx="4297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Trust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Rules are visible, payouts are programmatic, and outcomes are traceable.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977639"/>
            <a:ext cx="43891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3977639"/>
            <a:ext cx="109728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114799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Speed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Consensus automates decisions instead of dragging work through a queue.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WorkProof Pitch Deck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Aptos Display"/>
              </a:rPr>
              <a:t>Why this wins</a:t>
            </a:r>
          </a:p>
          <a:p>
            <a:r>
              <a:rPr sz="1200">
                <a:solidFill>
                  <a:srgbClr val="64748B"/>
                </a:solidFill>
                <a:latin typeface="Aptos"/>
              </a:rPr>
              <a:t>It turns a social problem into a protocol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49224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11827"/>
                </a:solidFill>
                <a:latin typeface="Aptos"/>
              </a:rPr>
              <a:t>Delays disappear because escrow is already on-chain before work begins.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11827"/>
                </a:solidFill>
                <a:latin typeface="Aptos"/>
              </a:rPr>
              <a:t>Bias drops because no single reviewer or model has final authority.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11827"/>
                </a:solidFill>
                <a:latin typeface="Aptos"/>
              </a:rPr>
              <a:t>Disputes shrink because the review process is auditable and deterministic.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11827"/>
                </a:solidFill>
                <a:latin typeface="Aptos"/>
              </a:rPr>
              <a:t>Operations scale because cron + oracle automation replaces manual chasing.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11827"/>
                </a:solidFill>
                <a:latin typeface="Aptos"/>
              </a:rPr>
              <a:t>The market gains a clear promise: pay for proof, not promises.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35240" y="1554480"/>
            <a:ext cx="374903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35240" y="1554480"/>
            <a:ext cx="109728" cy="1143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91640"/>
            <a:ext cx="33832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Outcome 1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Faster payouts for approved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788920"/>
            <a:ext cx="374903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2788920"/>
            <a:ext cx="109728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926080"/>
            <a:ext cx="33832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Outcome 2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Fairer reviews with consensus-based 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023360"/>
            <a:ext cx="374903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4023360"/>
            <a:ext cx="109728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4160520"/>
            <a:ext cx="33832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Outcome 3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Transparent settlement and clean audit trails.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WorkProof Pitch Deck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51560"/>
            <a:ext cx="10149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Aptos Display"/>
              </a:rPr>
              <a:t>WorkProof builds the trust layer for freelance work.</a:t>
            </a:r>
          </a:p>
          <a:p>
            <a:pPr algn="ctr"/>
            <a:r>
              <a:rPr sz="2000">
                <a:solidFill>
                  <a:srgbClr val="64748B"/>
                </a:solidFill>
                <a:latin typeface="Aptos"/>
              </a:rPr>
              <a:t>Escrow the money. Verify the work. Let consensus settle the result.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361188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3611880"/>
            <a:ext cx="109728" cy="1417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3749040"/>
            <a:ext cx="2788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Pitch line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Pay for proof, not promises.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361188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26280" y="3611880"/>
            <a:ext cx="109728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3749040"/>
            <a:ext cx="2788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Differentiator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Multiple LMs. Consensus verdict. Optimistic democracy.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61188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79" y="3611880"/>
            <a:ext cx="109728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3749040"/>
            <a:ext cx="2788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 Display"/>
              </a:rPr>
              <a:t>Call to action</a:t>
            </a:r>
          </a:p>
          <a:p>
            <a:r>
              <a:rPr sz="1400">
                <a:solidFill>
                  <a:srgbClr val="64748B"/>
                </a:solidFill>
                <a:latin typeface="Aptos"/>
              </a:rPr>
              <a:t>Use WorkProof to make work settlement transparent and fair.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  <a:latin typeface="Aptos"/>
              </a:rPr>
              <a:t>Download-ready pitch deck generated from the WorkProof repository.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WorkProof Pitch Deck  •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